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3"/>
  </p:notesMasterIdLst>
  <p:sldIdLst>
    <p:sldId id="260" r:id="rId5"/>
    <p:sldId id="257"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107" d="100"/>
          <a:sy n="107" d="100"/>
        </p:scale>
        <p:origin x="84" y="13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3F774C-70F7-4ED4-813C-739E51CF8487}" type="datetimeFigureOut">
              <a:rPr lang="en-US" smtClean="0"/>
              <a:t>3/8/2026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24A772-5D94-4F12-8B86-44D4FB26368F}" type="slidenum">
              <a:rPr lang="en-US" smtClean="0"/>
              <a:t>‹#›</a:t>
            </a:fld>
            <a:endParaRPr lang="en-US" dirty="0"/>
          </a:p>
        </p:txBody>
      </p:sp>
    </p:spTree>
    <p:extLst>
      <p:ext uri="{BB962C8B-B14F-4D97-AF65-F5344CB8AC3E}">
        <p14:creationId xmlns:p14="http://schemas.microsoft.com/office/powerpoint/2010/main" val="26884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txBody>
            <a:bodyPr/>
            <a:lstStyle/>
            <a:p>
              <a:endParaRPr lang="en-US"/>
            </a:p>
          </p:txBody>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txBody>
            <a:bodyPr/>
            <a:lstStyle/>
            <a:p>
              <a:endParaRPr lang="en-US"/>
            </a:p>
          </p:txBody>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F2E34D-57B0-41D5-A7AF-DF10D1068115}" type="datetime1">
              <a:rPr lang="en-US" smtClean="0"/>
              <a:t>3/8/2026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56EAF9-2583-4989-8D87-13F548ED6E0C}"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0E3CFB-BB1B-4B2A-ADF6-B1A4609854C4}"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B3AEAA8-1A97-412E-935C-2E918F139579}" type="datetime1">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8B0DF1-CA1F-4E36-8C65-C52A9896A8FB}" type="datetime1">
              <a:rPr lang="en-US" smtClean="0"/>
              <a:t>3/8/2026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6173FD-197A-4AD6-8D60-38B6A76F0734}" type="datetime1">
              <a:rPr lang="en-US" smtClean="0"/>
              <a:t>3/8/2026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DC3949-07FA-4C7A-A990-D6D1043EED71}" type="datetime1">
              <a:rPr lang="en-US" smtClean="0"/>
              <a:t>3/8/2026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9E2DE8-6D13-4218-A974-D45AA7B6E4FF}" type="datetime1">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DAB7D7-4BDA-4ABC-B31D-66201C69A314}" type="datetime1">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6E8327-77F4-4A2B-9238-101C8E3404E4}" type="datetime1">
              <a:rPr lang="en-US" smtClean="0"/>
              <a:t>3/8/2026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87327A-3B7B-4F18-AD00-4892CF91FF9D}"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398241-E647-4007-AB01-BB30869910EB}"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F5554-C941-4C3B-A197-75ED448862A0}"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6B44A0-C3F8-4023-9352-7CF7C034B2C8}"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C3DC5B-471F-47EA-B884-FE923235A560}"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F8C408-3247-4796-93FF-B91D6887AEC0}"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BA1D282-CC74-49F4-B876-75084EFB56F1}" type="datetime1">
              <a:rPr lang="en-US" smtClean="0"/>
              <a:t>3/8/2026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E3F0A0B-291C-4112-A023-023C51AB2E85}" type="datetime1">
              <a:rPr lang="en-US" smtClean="0"/>
              <a:t>3/8/2026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5A92FE9-DB05-4D0D-AF5A-BE8664B9FF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53D9B26A-5143-49A7-BA98-D871D5BD719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1"/>
            <a:ext cx="5014912" cy="6857999"/>
            <a:chOff x="2928938" y="-4763"/>
            <a:chExt cx="5014912" cy="6862763"/>
          </a:xfrm>
        </p:grpSpPr>
        <p:sp>
          <p:nvSpPr>
            <p:cNvPr id="24" name="Freeform 6">
              <a:extLst>
                <a:ext uri="{FF2B5EF4-FFF2-40B4-BE49-F238E27FC236}">
                  <a16:creationId xmlns:a16="http://schemas.microsoft.com/office/drawing/2014/main" id="{68B85E55-A2A1-4682-B891-F201358A92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45EF6EDB-9B5D-49E9-96FA-1AE08BF95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38338226-D6E2-4EEE-B271-DB4BD096DB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4878FB48-17B3-4A11-8025-DE0945CD4E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4150A21C-DD6D-4D3C-9E95-7A3CA263BE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7505BF04-104D-4180-A284-42FCD6B04D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652CD06E-EB43-4697-A9C1-290232C3BAD6}"/>
              </a:ext>
            </a:extLst>
          </p:cNvPr>
          <p:cNvSpPr>
            <a:spLocks noGrp="1"/>
          </p:cNvSpPr>
          <p:nvPr>
            <p:ph type="ctrTitle"/>
          </p:nvPr>
        </p:nvSpPr>
        <p:spPr>
          <a:xfrm>
            <a:off x="1018190" y="924232"/>
            <a:ext cx="8174971" cy="3285866"/>
          </a:xfrm>
        </p:spPr>
        <p:txBody>
          <a:bodyPr>
            <a:normAutofit/>
          </a:bodyPr>
          <a:lstStyle/>
          <a:p>
            <a:pPr algn="l"/>
            <a:r>
              <a:rPr lang="en-US" sz="6200" dirty="0"/>
              <a:t>Balkan Economic Analysis</a:t>
            </a:r>
          </a:p>
        </p:txBody>
      </p:sp>
      <p:sp>
        <p:nvSpPr>
          <p:cNvPr id="3" name="Subtitle 2">
            <a:extLst>
              <a:ext uri="{FF2B5EF4-FFF2-40B4-BE49-F238E27FC236}">
                <a16:creationId xmlns:a16="http://schemas.microsoft.com/office/drawing/2014/main" id="{1FBBDE4E-FFA3-44D5-BA0B-7575E2214B7C}"/>
              </a:ext>
            </a:extLst>
          </p:cNvPr>
          <p:cNvSpPr>
            <a:spLocks noGrp="1"/>
          </p:cNvSpPr>
          <p:nvPr>
            <p:ph type="subTitle" idx="1"/>
          </p:nvPr>
        </p:nvSpPr>
        <p:spPr>
          <a:xfrm>
            <a:off x="1018190" y="4210098"/>
            <a:ext cx="7178070" cy="863348"/>
          </a:xfrm>
        </p:spPr>
        <p:txBody>
          <a:bodyPr>
            <a:normAutofit/>
          </a:bodyPr>
          <a:lstStyle/>
          <a:p>
            <a:pPr algn="l"/>
            <a:r>
              <a:rPr lang="en-US" dirty="0"/>
              <a:t>Jurgen Shimani</a:t>
            </a:r>
          </a:p>
        </p:txBody>
      </p:sp>
    </p:spTree>
    <p:extLst>
      <p:ext uri="{BB962C8B-B14F-4D97-AF65-F5344CB8AC3E}">
        <p14:creationId xmlns:p14="http://schemas.microsoft.com/office/powerpoint/2010/main" val="388446695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9CAC3B1-4879-424D-8F15-2062771961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4B8492CB-DFBA-4A82-9778-F21493DA36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E34CC1C8-EBDD-4AEA-83E6-B27575B62E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D6B38644-B85D-4211-9526-5B4C2A662B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8A8B2820-6B8F-4C19-BFC5-D28EE44E5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773528ED-4D37-4A77-A8CA-86B6221C5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8A58A902-E944-4399-9A93-A91A6A82B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4EDB1155-2E8E-4FB8-AD42-101FE4383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C7492CCE-C435-464E-A19A-D4C606FDBE3D}"/>
              </a:ext>
            </a:extLst>
          </p:cNvPr>
          <p:cNvSpPr>
            <a:spLocks noGrp="1"/>
          </p:cNvSpPr>
          <p:nvPr>
            <p:ph type="title"/>
          </p:nvPr>
        </p:nvSpPr>
        <p:spPr>
          <a:xfrm>
            <a:off x="1018191" y="685800"/>
            <a:ext cx="7411825" cy="1752599"/>
          </a:xfrm>
        </p:spPr>
        <p:txBody>
          <a:bodyPr>
            <a:normAutofit/>
          </a:bodyPr>
          <a:lstStyle/>
          <a:p>
            <a:pPr algn="l"/>
            <a:r>
              <a:rPr lang="en-US" dirty="0"/>
              <a:t>Introduction</a:t>
            </a:r>
          </a:p>
        </p:txBody>
      </p:sp>
      <p:sp>
        <p:nvSpPr>
          <p:cNvPr id="3" name="Content Placeholder 2">
            <a:extLst>
              <a:ext uri="{FF2B5EF4-FFF2-40B4-BE49-F238E27FC236}">
                <a16:creationId xmlns:a16="http://schemas.microsoft.com/office/drawing/2014/main" id="{60DFF4FA-F598-4962-B6AB-31A8BE724E52}"/>
              </a:ext>
            </a:extLst>
          </p:cNvPr>
          <p:cNvSpPr>
            <a:spLocks noGrp="1"/>
          </p:cNvSpPr>
          <p:nvPr>
            <p:ph idx="1"/>
          </p:nvPr>
        </p:nvSpPr>
        <p:spPr>
          <a:xfrm>
            <a:off x="1018190" y="2666999"/>
            <a:ext cx="7243603" cy="2719193"/>
          </a:xfrm>
        </p:spPr>
        <p:txBody>
          <a:bodyPr anchor="t">
            <a:normAutofit/>
          </a:bodyPr>
          <a:lstStyle/>
          <a:p>
            <a:r>
              <a:rPr lang="en-US" sz="1800" dirty="0"/>
              <a:t>Dataset</a:t>
            </a:r>
          </a:p>
          <a:p>
            <a:r>
              <a:rPr lang="en-US" sz="1800" dirty="0"/>
              <a:t>What country has the most rapid GDP growth for the year 2024?</a:t>
            </a:r>
          </a:p>
          <a:p>
            <a:r>
              <a:rPr lang="en-US" sz="1800" dirty="0"/>
              <a:t>Does Inflation affect this GDP growth?</a:t>
            </a:r>
          </a:p>
          <a:p>
            <a:r>
              <a:rPr lang="en-US" sz="1800" dirty="0"/>
              <a:t>Does Government Expenses affect the GDP growth/reduction?</a:t>
            </a:r>
          </a:p>
          <a:p>
            <a:r>
              <a:rPr lang="en-US" sz="1800" dirty="0"/>
              <a:t>Conclusion</a:t>
            </a:r>
          </a:p>
          <a:p>
            <a:endParaRPr lang="en-US" sz="1800" dirty="0"/>
          </a:p>
        </p:txBody>
      </p:sp>
    </p:spTree>
    <p:extLst>
      <p:ext uri="{BB962C8B-B14F-4D97-AF65-F5344CB8AC3E}">
        <p14:creationId xmlns:p14="http://schemas.microsoft.com/office/powerpoint/2010/main" val="99068455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E172CC4-9D16-257C-27E8-8C5E4E3CAEA3}"/>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DBBE29-5886-32BB-E57D-3676B41DFC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B394CAD2-FFCE-3711-870E-CE0B24BC3B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8BABE071-1842-4440-55E6-F0BA87F895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AE206B78-05D1-4E60-89EF-9AF44FC1E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629D44D9-C298-D2FB-0637-4424518E6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6E9C85FA-AAD9-A0DE-AED6-9DAA9027F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6FF76F30-7ECF-A472-1686-F9D25CDC54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8953720C-F766-5A88-EE41-8A07E6D1B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DF2CB546-52D6-FC3F-90AE-B5C13F1CA970}"/>
              </a:ext>
            </a:extLst>
          </p:cNvPr>
          <p:cNvSpPr>
            <a:spLocks noGrp="1"/>
          </p:cNvSpPr>
          <p:nvPr>
            <p:ph type="title"/>
          </p:nvPr>
        </p:nvSpPr>
        <p:spPr>
          <a:xfrm>
            <a:off x="1018191" y="685800"/>
            <a:ext cx="7411825" cy="1752599"/>
          </a:xfrm>
        </p:spPr>
        <p:txBody>
          <a:bodyPr>
            <a:normAutofit/>
          </a:bodyPr>
          <a:lstStyle/>
          <a:p>
            <a:pPr algn="l"/>
            <a:r>
              <a:rPr lang="en-US" dirty="0"/>
              <a:t>Data</a:t>
            </a:r>
          </a:p>
        </p:txBody>
      </p:sp>
      <p:sp>
        <p:nvSpPr>
          <p:cNvPr id="3" name="Content Placeholder 2">
            <a:extLst>
              <a:ext uri="{FF2B5EF4-FFF2-40B4-BE49-F238E27FC236}">
                <a16:creationId xmlns:a16="http://schemas.microsoft.com/office/drawing/2014/main" id="{92290AD1-A721-A4D2-1373-9805C76166AE}"/>
              </a:ext>
            </a:extLst>
          </p:cNvPr>
          <p:cNvSpPr>
            <a:spLocks noGrp="1"/>
          </p:cNvSpPr>
          <p:nvPr>
            <p:ph idx="1"/>
          </p:nvPr>
        </p:nvSpPr>
        <p:spPr>
          <a:xfrm>
            <a:off x="1018190" y="2666999"/>
            <a:ext cx="7411825" cy="3505201"/>
          </a:xfrm>
        </p:spPr>
        <p:txBody>
          <a:bodyPr anchor="t">
            <a:normAutofit/>
          </a:bodyPr>
          <a:lstStyle/>
          <a:p>
            <a:r>
              <a:rPr lang="en-US" sz="1800" dirty="0"/>
              <a:t>The analysis combines geographical data from Natural Earth datasets (via </a:t>
            </a:r>
            <a:r>
              <a:rPr lang="en-US" sz="1800" dirty="0" err="1"/>
              <a:t>GeoPandas</a:t>
            </a:r>
            <a:r>
              <a:rPr lang="en-US" sz="1800" dirty="0"/>
              <a:t>) with economic indicators from the World Bank.</a:t>
            </a:r>
          </a:p>
          <a:p>
            <a:r>
              <a:rPr lang="en-US" sz="1800" dirty="0"/>
              <a:t>The Natural Earth dataset provides the country boundary data used to construct the regional map.</a:t>
            </a:r>
          </a:p>
          <a:p>
            <a:r>
              <a:rPr lang="en-US" sz="1800" dirty="0"/>
              <a:t>World Bank data supplies the economic indicators of each of the Balkan region countries.</a:t>
            </a:r>
          </a:p>
          <a:p>
            <a:r>
              <a:rPr lang="en-US" sz="1800" dirty="0"/>
              <a:t>This analysis focuses on Balkan countries, examining key indicators such as GDP growth, inflation, and government expenses.</a:t>
            </a:r>
          </a:p>
        </p:txBody>
      </p:sp>
      <p:pic>
        <p:nvPicPr>
          <p:cNvPr id="5" name="Picture 4">
            <a:extLst>
              <a:ext uri="{FF2B5EF4-FFF2-40B4-BE49-F238E27FC236}">
                <a16:creationId xmlns:a16="http://schemas.microsoft.com/office/drawing/2014/main" id="{A4007894-932E-E8C2-9D34-C37738DF6E38}"/>
              </a:ext>
            </a:extLst>
          </p:cNvPr>
          <p:cNvPicPr>
            <a:picLocks noChangeAspect="1"/>
          </p:cNvPicPr>
          <p:nvPr/>
        </p:nvPicPr>
        <p:blipFill>
          <a:blip r:embed="rId2"/>
          <a:stretch>
            <a:fillRect/>
          </a:stretch>
        </p:blipFill>
        <p:spPr>
          <a:xfrm>
            <a:off x="8847136" y="2778125"/>
            <a:ext cx="2933700" cy="1562100"/>
          </a:xfrm>
          <a:prstGeom prst="rect">
            <a:avLst/>
          </a:prstGeom>
        </p:spPr>
      </p:pic>
    </p:spTree>
    <p:extLst>
      <p:ext uri="{BB962C8B-B14F-4D97-AF65-F5344CB8AC3E}">
        <p14:creationId xmlns:p14="http://schemas.microsoft.com/office/powerpoint/2010/main" val="248956725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CD58EC83-9D1B-DD06-FE75-C61B681E64E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740C352-FAEC-0838-8679-5064B5CF9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44F1EF8C-87A7-4284-1B93-C158E25E24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9D14EB49-52E0-04C3-4A92-BA3B8671EB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BA1FB975-85B2-2597-D4F4-04EF5A722E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D1845FB9-ADED-CA1B-5188-A32859485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AD1EA4ED-E892-8496-D042-FA1A8FED4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519410CB-3A8E-BC12-6F39-72F779D97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F40D113F-D5EC-0F3A-F45A-7320A0F421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5A17AE86-D5DD-E25F-064F-3BB0BAD425F8}"/>
              </a:ext>
            </a:extLst>
          </p:cNvPr>
          <p:cNvSpPr>
            <a:spLocks noGrp="1"/>
          </p:cNvSpPr>
          <p:nvPr>
            <p:ph type="title"/>
          </p:nvPr>
        </p:nvSpPr>
        <p:spPr>
          <a:xfrm>
            <a:off x="1018191" y="685800"/>
            <a:ext cx="7411825" cy="1752599"/>
          </a:xfrm>
        </p:spPr>
        <p:txBody>
          <a:bodyPr>
            <a:normAutofit/>
          </a:bodyPr>
          <a:lstStyle/>
          <a:p>
            <a:r>
              <a:rPr lang="en-US"/>
              <a:t>What country has the most rapid GDP growth for the year 2024?</a:t>
            </a:r>
            <a:endParaRPr lang="en-US" dirty="0"/>
          </a:p>
        </p:txBody>
      </p:sp>
      <p:sp>
        <p:nvSpPr>
          <p:cNvPr id="3" name="Content Placeholder 2">
            <a:extLst>
              <a:ext uri="{FF2B5EF4-FFF2-40B4-BE49-F238E27FC236}">
                <a16:creationId xmlns:a16="http://schemas.microsoft.com/office/drawing/2014/main" id="{55862576-320D-DCC2-1524-C4827FA39C2C}"/>
              </a:ext>
            </a:extLst>
          </p:cNvPr>
          <p:cNvSpPr>
            <a:spLocks noGrp="1"/>
          </p:cNvSpPr>
          <p:nvPr>
            <p:ph idx="1"/>
          </p:nvPr>
        </p:nvSpPr>
        <p:spPr>
          <a:xfrm>
            <a:off x="1018191" y="2363191"/>
            <a:ext cx="4550090" cy="4212240"/>
          </a:xfrm>
        </p:spPr>
        <p:txBody>
          <a:bodyPr anchor="t">
            <a:normAutofit fontScale="92500" lnSpcReduction="20000"/>
          </a:bodyPr>
          <a:lstStyle/>
          <a:p>
            <a:r>
              <a:rPr lang="en-US" sz="1600" dirty="0"/>
              <a:t>In recent years, some Balkan countries have experienced stronger economic growth than others,  partly driven by  tourism and lower costs of living.</a:t>
            </a:r>
          </a:p>
          <a:p>
            <a:r>
              <a:rPr lang="en-US" sz="1600" dirty="0"/>
              <a:t>Many travelers and businesses are shifting from more expensive and well-established destinations, to more affordable alternatives in the region.</a:t>
            </a:r>
          </a:p>
          <a:p>
            <a:r>
              <a:rPr lang="en-US" sz="1600" dirty="0"/>
              <a:t>As shown in the color-coded map, Kosovo has experienced the highest GDP growth, partly due to economic recovery following the end of the territorial war with Serbia.</a:t>
            </a:r>
          </a:p>
          <a:p>
            <a:r>
              <a:rPr lang="en-US" sz="1600" dirty="0"/>
              <a:t>Albania shows the second-highest growth, supported by increasing tourism and the presence of foreign businesses, like Deloitte, etc.</a:t>
            </a:r>
          </a:p>
          <a:p>
            <a:r>
              <a:rPr lang="en-US" sz="1600" dirty="0"/>
              <a:t>In contrast, countries such as Italy and Greece, despite being part of the EU and historically having stable economies, have recently experienced slower or stagnating growth for various economic reasons.</a:t>
            </a:r>
          </a:p>
          <a:p>
            <a:endParaRPr lang="en-US" sz="1800" dirty="0"/>
          </a:p>
        </p:txBody>
      </p:sp>
      <p:pic>
        <p:nvPicPr>
          <p:cNvPr id="6" name="Picture 5">
            <a:extLst>
              <a:ext uri="{FF2B5EF4-FFF2-40B4-BE49-F238E27FC236}">
                <a16:creationId xmlns:a16="http://schemas.microsoft.com/office/drawing/2014/main" id="{D43D6F8C-BF14-6E22-2B5A-38E7F50AB942}"/>
              </a:ext>
            </a:extLst>
          </p:cNvPr>
          <p:cNvPicPr>
            <a:picLocks noChangeAspect="1"/>
          </p:cNvPicPr>
          <p:nvPr/>
        </p:nvPicPr>
        <p:blipFill>
          <a:blip r:embed="rId2"/>
          <a:stretch>
            <a:fillRect/>
          </a:stretch>
        </p:blipFill>
        <p:spPr>
          <a:xfrm>
            <a:off x="6006431" y="2313478"/>
            <a:ext cx="5616322" cy="4212241"/>
          </a:xfrm>
          <a:prstGeom prst="rect">
            <a:avLst/>
          </a:prstGeom>
        </p:spPr>
      </p:pic>
    </p:spTree>
    <p:extLst>
      <p:ext uri="{BB962C8B-B14F-4D97-AF65-F5344CB8AC3E}">
        <p14:creationId xmlns:p14="http://schemas.microsoft.com/office/powerpoint/2010/main" val="1338332329"/>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E6580AF-F43C-59C0-F2CF-49286536924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887551-FB95-A02E-6E08-6DD8A39EC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B1F4277D-3524-09C5-3601-BA4EB9C2D5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DC8515C1-E52C-7BA3-F750-407522C745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270F5EB0-4C4B-0E42-796E-76E08B69C5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C9E65F29-FE15-8614-D765-34593DCD1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51DBA6AD-FFC8-6C37-5324-FC0EB74D86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7A5AD342-9FCE-6660-C27C-CDB1B1C5B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5210EABA-A036-720D-3757-291323C21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F380B92E-2D25-23C2-FFB9-2132E4F993D5}"/>
              </a:ext>
            </a:extLst>
          </p:cNvPr>
          <p:cNvSpPr>
            <a:spLocks noGrp="1"/>
          </p:cNvSpPr>
          <p:nvPr>
            <p:ph type="title"/>
          </p:nvPr>
        </p:nvSpPr>
        <p:spPr>
          <a:xfrm>
            <a:off x="2390087" y="415132"/>
            <a:ext cx="7411825" cy="1752599"/>
          </a:xfrm>
        </p:spPr>
        <p:txBody>
          <a:bodyPr>
            <a:normAutofit/>
          </a:bodyPr>
          <a:lstStyle/>
          <a:p>
            <a:r>
              <a:rPr lang="en-US" dirty="0"/>
              <a:t>Does Inflation affect this GDP growth?</a:t>
            </a:r>
          </a:p>
        </p:txBody>
      </p:sp>
      <p:sp>
        <p:nvSpPr>
          <p:cNvPr id="3" name="Content Placeholder 2">
            <a:extLst>
              <a:ext uri="{FF2B5EF4-FFF2-40B4-BE49-F238E27FC236}">
                <a16:creationId xmlns:a16="http://schemas.microsoft.com/office/drawing/2014/main" id="{61A4DEED-CCA8-4AA6-3F5E-40394B4AA046}"/>
              </a:ext>
            </a:extLst>
          </p:cNvPr>
          <p:cNvSpPr>
            <a:spLocks noGrp="1"/>
          </p:cNvSpPr>
          <p:nvPr>
            <p:ph idx="1"/>
          </p:nvPr>
        </p:nvSpPr>
        <p:spPr>
          <a:xfrm>
            <a:off x="535307" y="2313482"/>
            <a:ext cx="4550090" cy="4212240"/>
          </a:xfrm>
        </p:spPr>
        <p:txBody>
          <a:bodyPr anchor="t">
            <a:normAutofit/>
          </a:bodyPr>
          <a:lstStyle/>
          <a:p>
            <a:r>
              <a:rPr lang="en-US" sz="1600" dirty="0"/>
              <a:t>The economies of several Balkan countries have changed significantly compared to previous decades.</a:t>
            </a:r>
          </a:p>
          <a:p>
            <a:r>
              <a:rPr lang="en-US" sz="1600" dirty="0"/>
              <a:t>Smaller countries such as Albania and Kosovo experienced strong GDP growth in 2024, while maintaining relatively moderate inflation levels.</a:t>
            </a:r>
          </a:p>
          <a:p>
            <a:r>
              <a:rPr lang="en-US" sz="1600" dirty="0"/>
              <a:t>Historically, Albania experienced high inflation during the post-communist transition, but inflation has stabilized in recent years.</a:t>
            </a:r>
          </a:p>
          <a:p>
            <a:r>
              <a:rPr lang="en-US" sz="1600" dirty="0"/>
              <a:t>Recent data suggests that inflation levels across all Balkan countries have become relatively similar, indicating that GDP growth does not necessarily lead to lower inflation across all countries.</a:t>
            </a:r>
            <a:endParaRPr lang="en-US" sz="1200" dirty="0"/>
          </a:p>
          <a:p>
            <a:endParaRPr lang="en-US" sz="1800" dirty="0"/>
          </a:p>
        </p:txBody>
      </p:sp>
      <p:pic>
        <p:nvPicPr>
          <p:cNvPr id="5" name="Picture 4">
            <a:extLst>
              <a:ext uri="{FF2B5EF4-FFF2-40B4-BE49-F238E27FC236}">
                <a16:creationId xmlns:a16="http://schemas.microsoft.com/office/drawing/2014/main" id="{E96874AE-FD7E-1F80-C790-E63BCEB74954}"/>
              </a:ext>
            </a:extLst>
          </p:cNvPr>
          <p:cNvPicPr>
            <a:picLocks noChangeAspect="1"/>
          </p:cNvPicPr>
          <p:nvPr/>
        </p:nvPicPr>
        <p:blipFill>
          <a:blip r:embed="rId2"/>
          <a:stretch>
            <a:fillRect/>
          </a:stretch>
        </p:blipFill>
        <p:spPr>
          <a:xfrm>
            <a:off x="5276319" y="2272506"/>
            <a:ext cx="6478866" cy="3887320"/>
          </a:xfrm>
          <a:prstGeom prst="rect">
            <a:avLst/>
          </a:prstGeom>
        </p:spPr>
      </p:pic>
    </p:spTree>
    <p:extLst>
      <p:ext uri="{BB962C8B-B14F-4D97-AF65-F5344CB8AC3E}">
        <p14:creationId xmlns:p14="http://schemas.microsoft.com/office/powerpoint/2010/main" val="288701153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E7537CC6-90D2-2EFE-B034-43065B2B0727}"/>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250959F-5ABC-9D90-1396-E6347487A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B7B5C874-D412-143A-8633-BA8B876881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DBC1E754-371F-4B10-56BA-996D221A16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EE994592-8265-0183-9CCA-BDB30795C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B120816B-61F9-23F5-EBB7-777A7D348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8D9BB031-B825-3EF8-9778-B9294C4EA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740BB2EC-F28E-F5F2-1446-EC37A8970E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0FC7CAAE-C17E-649F-6D36-57674A821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E3188820-2CF2-4A04-2D5A-748BDDF3DEEB}"/>
              </a:ext>
            </a:extLst>
          </p:cNvPr>
          <p:cNvSpPr>
            <a:spLocks noGrp="1"/>
          </p:cNvSpPr>
          <p:nvPr>
            <p:ph type="title"/>
          </p:nvPr>
        </p:nvSpPr>
        <p:spPr>
          <a:xfrm>
            <a:off x="2390087" y="415132"/>
            <a:ext cx="7411825" cy="1752599"/>
          </a:xfrm>
        </p:spPr>
        <p:txBody>
          <a:bodyPr>
            <a:normAutofit/>
          </a:bodyPr>
          <a:lstStyle/>
          <a:p>
            <a:r>
              <a:rPr lang="en-US" dirty="0"/>
              <a:t>Does Government Expenses affect the GDP growth/reduction?</a:t>
            </a:r>
          </a:p>
        </p:txBody>
      </p:sp>
      <p:pic>
        <p:nvPicPr>
          <p:cNvPr id="6" name="Content Placeholder 5">
            <a:extLst>
              <a:ext uri="{FF2B5EF4-FFF2-40B4-BE49-F238E27FC236}">
                <a16:creationId xmlns:a16="http://schemas.microsoft.com/office/drawing/2014/main" id="{BB003352-A34C-08DD-8749-0B74EE7A14E4}"/>
              </a:ext>
            </a:extLst>
          </p:cNvPr>
          <p:cNvPicPr>
            <a:picLocks noGrp="1" noChangeAspect="1"/>
          </p:cNvPicPr>
          <p:nvPr>
            <p:ph idx="1"/>
          </p:nvPr>
        </p:nvPicPr>
        <p:blipFill>
          <a:blip r:embed="rId2"/>
          <a:stretch>
            <a:fillRect/>
          </a:stretch>
        </p:blipFill>
        <p:spPr>
          <a:xfrm>
            <a:off x="686592" y="2167731"/>
            <a:ext cx="4549775" cy="3981053"/>
          </a:xfrm>
          <a:prstGeom prst="rect">
            <a:avLst/>
          </a:prstGeom>
        </p:spPr>
      </p:pic>
      <p:sp>
        <p:nvSpPr>
          <p:cNvPr id="7" name="Content Placeholder 2">
            <a:extLst>
              <a:ext uri="{FF2B5EF4-FFF2-40B4-BE49-F238E27FC236}">
                <a16:creationId xmlns:a16="http://schemas.microsoft.com/office/drawing/2014/main" id="{52A1DDF6-6252-1BD2-4EEF-7A2D530AA4EE}"/>
              </a:ext>
            </a:extLst>
          </p:cNvPr>
          <p:cNvSpPr txBox="1">
            <a:spLocks/>
          </p:cNvSpPr>
          <p:nvPr/>
        </p:nvSpPr>
        <p:spPr>
          <a:xfrm>
            <a:off x="6082204" y="2052138"/>
            <a:ext cx="4550090" cy="4212240"/>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1600" dirty="0"/>
              <a:t>The graph shows that government expenses are highest in Greece and Italy, two countries that currently experience relatively low GDP growth.</a:t>
            </a:r>
          </a:p>
          <a:p>
            <a:r>
              <a:rPr lang="en-US" sz="1600" dirty="0"/>
              <a:t>In contrast, Albania, which has seen strong GDP growth in the recent years, has comparatively lower government expenses.</a:t>
            </a:r>
          </a:p>
          <a:p>
            <a:r>
              <a:rPr lang="en-US" sz="1600" dirty="0"/>
              <a:t>Lower public spending may contribute to lower costs of living and operating businesses, making the country more attractive to foreign investment and tourism.</a:t>
            </a:r>
          </a:p>
          <a:p>
            <a:r>
              <a:rPr lang="en-US" sz="1600" dirty="0"/>
              <a:t>However, the data also shows exceptions. For example, Croatia has relatively high government expenditure while still maintaining strong GDP growth, indicating that lower expenses alone do not necessarily lead to higher GDP growth.</a:t>
            </a:r>
            <a:endParaRPr lang="en-US" sz="1800" dirty="0"/>
          </a:p>
        </p:txBody>
      </p:sp>
    </p:spTree>
    <p:extLst>
      <p:ext uri="{BB962C8B-B14F-4D97-AF65-F5344CB8AC3E}">
        <p14:creationId xmlns:p14="http://schemas.microsoft.com/office/powerpoint/2010/main" val="157895599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ADE360C-ADDB-33B8-040B-48D8AC50289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154FB65-E107-7C40-F565-B8A2A42266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1045FE91-5C17-F597-044B-ADD8083747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23815547-28F4-AA09-6D87-86B21D3AF9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39334266-3232-B56A-46FB-D36982044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FA39BA4C-1D73-6198-7C6F-FEF9BE9CA0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C09D844F-6E21-6A3A-D973-671CF2CB6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3EF777D2-8C82-D828-1E7D-62183A34B0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CC0700CC-CB9F-8191-97BE-F46750D3D1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2" name="Title 1">
            <a:extLst>
              <a:ext uri="{FF2B5EF4-FFF2-40B4-BE49-F238E27FC236}">
                <a16:creationId xmlns:a16="http://schemas.microsoft.com/office/drawing/2014/main" id="{CC895476-3C1B-4418-413E-7BD97487A60C}"/>
              </a:ext>
            </a:extLst>
          </p:cNvPr>
          <p:cNvSpPr>
            <a:spLocks noGrp="1"/>
          </p:cNvSpPr>
          <p:nvPr>
            <p:ph type="title"/>
          </p:nvPr>
        </p:nvSpPr>
        <p:spPr>
          <a:xfrm>
            <a:off x="1018191" y="685800"/>
            <a:ext cx="7411825" cy="1752599"/>
          </a:xfrm>
        </p:spPr>
        <p:txBody>
          <a:bodyPr>
            <a:normAutofit/>
          </a:bodyPr>
          <a:lstStyle/>
          <a:p>
            <a:pPr algn="l"/>
            <a:r>
              <a:rPr lang="en-US" dirty="0"/>
              <a:t>Conclusion</a:t>
            </a:r>
          </a:p>
        </p:txBody>
      </p:sp>
      <p:sp>
        <p:nvSpPr>
          <p:cNvPr id="3" name="Content Placeholder 2">
            <a:extLst>
              <a:ext uri="{FF2B5EF4-FFF2-40B4-BE49-F238E27FC236}">
                <a16:creationId xmlns:a16="http://schemas.microsoft.com/office/drawing/2014/main" id="{34871C68-83BD-4492-8424-D5ECED8EB681}"/>
              </a:ext>
            </a:extLst>
          </p:cNvPr>
          <p:cNvSpPr>
            <a:spLocks noGrp="1"/>
          </p:cNvSpPr>
          <p:nvPr>
            <p:ph idx="1"/>
          </p:nvPr>
        </p:nvSpPr>
        <p:spPr>
          <a:xfrm>
            <a:off x="1018190" y="2666999"/>
            <a:ext cx="7243603" cy="3375455"/>
          </a:xfrm>
        </p:spPr>
        <p:txBody>
          <a:bodyPr anchor="t">
            <a:normAutofit fontScale="85000" lnSpcReduction="10000"/>
          </a:bodyPr>
          <a:lstStyle/>
          <a:p>
            <a:r>
              <a:rPr lang="en-US" sz="1800" dirty="0"/>
              <a:t>The Balkan region has experienced different economic trends across countries, with some smaller economies showing faster growth than larger, more established ones.</a:t>
            </a:r>
          </a:p>
          <a:p>
            <a:r>
              <a:rPr lang="en-US" sz="1800" dirty="0"/>
              <a:t>Tourism, lower cost of living, and foreign business activity appear to play an important role in driving GDP growth in countries such as Albania and Kosovo.</a:t>
            </a:r>
          </a:p>
          <a:p>
            <a:r>
              <a:rPr lang="en-US" sz="1800" dirty="0"/>
              <a:t>Inflation across Balkan countries has become relatively stable and similar in recent years, indicating that higher GDP growth does not always correspond directly to lower inflation.</a:t>
            </a:r>
          </a:p>
          <a:p>
            <a:r>
              <a:rPr lang="en-US" sz="1800" dirty="0"/>
              <a:t>Government spending varies significantly between countries, and the relationship between public expenditure and GDP growth is not always consistent.</a:t>
            </a:r>
          </a:p>
          <a:p>
            <a:r>
              <a:rPr lang="en-US" sz="1800" dirty="0"/>
              <a:t>Overall, the data suggest that multiple factors, including tourism, investment, cost of living, and government policy, contribute to economic performance in the Balkan region.</a:t>
            </a:r>
          </a:p>
          <a:p>
            <a:endParaRPr lang="en-US" sz="1800" dirty="0"/>
          </a:p>
        </p:txBody>
      </p:sp>
    </p:spTree>
    <p:extLst>
      <p:ext uri="{BB962C8B-B14F-4D97-AF65-F5344CB8AC3E}">
        <p14:creationId xmlns:p14="http://schemas.microsoft.com/office/powerpoint/2010/main" val="222073416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CF824D7-FE95-CD89-2D59-72F4A3BF9D99}"/>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DAFED415-94B1-5D6A-D10B-87F9EE5C20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0F86EEC9-BD06-5E16-E7AB-4CCEE28DE1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526211" y="0"/>
            <a:ext cx="5014912" cy="6862763"/>
            <a:chOff x="2928938" y="-4763"/>
            <a:chExt cx="5014912" cy="6862763"/>
          </a:xfrm>
        </p:grpSpPr>
        <p:sp>
          <p:nvSpPr>
            <p:cNvPr id="24" name="Freeform 6">
              <a:extLst>
                <a:ext uri="{FF2B5EF4-FFF2-40B4-BE49-F238E27FC236}">
                  <a16:creationId xmlns:a16="http://schemas.microsoft.com/office/drawing/2014/main" id="{E7C86E12-B754-0F7A-F3AC-C9423671A0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txBody>
            <a:bodyPr/>
            <a:lstStyle/>
            <a:p>
              <a:endParaRPr lang="en-US"/>
            </a:p>
          </p:txBody>
        </p:sp>
        <p:sp>
          <p:nvSpPr>
            <p:cNvPr id="25" name="Freeform 7">
              <a:extLst>
                <a:ext uri="{FF2B5EF4-FFF2-40B4-BE49-F238E27FC236}">
                  <a16:creationId xmlns:a16="http://schemas.microsoft.com/office/drawing/2014/main" id="{F809C9C6-400D-39CE-8DE0-6606D86A9F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txBody>
            <a:bodyPr/>
            <a:lstStyle/>
            <a:p>
              <a:endParaRPr lang="en-US"/>
            </a:p>
          </p:txBody>
        </p:sp>
        <p:sp>
          <p:nvSpPr>
            <p:cNvPr id="26" name="Freeform 12">
              <a:extLst>
                <a:ext uri="{FF2B5EF4-FFF2-40B4-BE49-F238E27FC236}">
                  <a16:creationId xmlns:a16="http://schemas.microsoft.com/office/drawing/2014/main" id="{05217369-0A26-7BB4-0C8F-5D83C54E5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txBody>
            <a:bodyPr/>
            <a:lstStyle/>
            <a:p>
              <a:endParaRPr lang="en-US"/>
            </a:p>
          </p:txBody>
        </p:sp>
        <p:sp>
          <p:nvSpPr>
            <p:cNvPr id="27" name="Freeform 13">
              <a:extLst>
                <a:ext uri="{FF2B5EF4-FFF2-40B4-BE49-F238E27FC236}">
                  <a16:creationId xmlns:a16="http://schemas.microsoft.com/office/drawing/2014/main" id="{5FB79229-6CE0-3754-3575-F5996302D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txBody>
            <a:bodyPr/>
            <a:lstStyle/>
            <a:p>
              <a:endParaRPr lang="en-US"/>
            </a:p>
          </p:txBody>
        </p:sp>
        <p:sp>
          <p:nvSpPr>
            <p:cNvPr id="28" name="Freeform 14">
              <a:extLst>
                <a:ext uri="{FF2B5EF4-FFF2-40B4-BE49-F238E27FC236}">
                  <a16:creationId xmlns:a16="http://schemas.microsoft.com/office/drawing/2014/main" id="{70263C4F-922E-E96B-1E5C-64237BAA8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txBody>
            <a:bodyPr/>
            <a:lstStyle/>
            <a:p>
              <a:endParaRPr lang="en-US"/>
            </a:p>
          </p:txBody>
        </p:sp>
        <p:sp>
          <p:nvSpPr>
            <p:cNvPr id="29" name="Freeform 15">
              <a:extLst>
                <a:ext uri="{FF2B5EF4-FFF2-40B4-BE49-F238E27FC236}">
                  <a16:creationId xmlns:a16="http://schemas.microsoft.com/office/drawing/2014/main" id="{B21859A9-28CC-2F8B-BBFF-7D51B09AB3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lstStyle/>
            <a:p>
              <a:endParaRPr lang="en-US"/>
            </a:p>
          </p:txBody>
        </p:sp>
      </p:grpSp>
      <p:sp>
        <p:nvSpPr>
          <p:cNvPr id="7" name="Title 6">
            <a:extLst>
              <a:ext uri="{FF2B5EF4-FFF2-40B4-BE49-F238E27FC236}">
                <a16:creationId xmlns:a16="http://schemas.microsoft.com/office/drawing/2014/main" id="{54C3F480-1756-E7A1-BD65-02FC30DADCDD}"/>
              </a:ext>
            </a:extLst>
          </p:cNvPr>
          <p:cNvSpPr>
            <a:spLocks noGrp="1"/>
          </p:cNvSpPr>
          <p:nvPr>
            <p:ph type="title"/>
          </p:nvPr>
        </p:nvSpPr>
        <p:spPr>
          <a:xfrm>
            <a:off x="1484311" y="2552700"/>
            <a:ext cx="10018713" cy="1752599"/>
          </a:xfrm>
        </p:spPr>
        <p:txBody>
          <a:bodyPr/>
          <a:lstStyle/>
          <a:p>
            <a:r>
              <a:rPr lang="en-US" dirty="0"/>
              <a:t>Thank you for your attention!</a:t>
            </a:r>
          </a:p>
        </p:txBody>
      </p:sp>
    </p:spTree>
    <p:extLst>
      <p:ext uri="{BB962C8B-B14F-4D97-AF65-F5344CB8AC3E}">
        <p14:creationId xmlns:p14="http://schemas.microsoft.com/office/powerpoint/2010/main" val="1347918379"/>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33315AA3-EAE3-44ED-8368-BAC2FFFB4817}">
  <ds:schemaRefs>
    <ds:schemaRef ds:uri="http://schemas.microsoft.com/sharepoint/v3/contenttype/forms"/>
  </ds:schemaRefs>
</ds:datastoreItem>
</file>

<file path=customXml/itemProps2.xml><?xml version="1.0" encoding="utf-8"?>
<ds:datastoreItem xmlns:ds="http://schemas.openxmlformats.org/officeDocument/2006/customXml" ds:itemID="{627C19A7-3107-4CB2-BD0D-F7C79BE028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7023227-530E-4024-91EF-312A851A758C}">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Parallax design</Template>
  <TotalTime>88</TotalTime>
  <Words>607</Words>
  <Application>Microsoft Office PowerPoint</Application>
  <PresentationFormat>Widescreen</PresentationFormat>
  <Paragraphs>36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Corbel</vt:lpstr>
      <vt:lpstr>Parallax</vt:lpstr>
      <vt:lpstr>Balkan Economic Analysis</vt:lpstr>
      <vt:lpstr>Introduction</vt:lpstr>
      <vt:lpstr>Data</vt:lpstr>
      <vt:lpstr>What country has the most rapid GDP growth for the year 2024?</vt:lpstr>
      <vt:lpstr>Does Inflation affect this GDP growth?</vt:lpstr>
      <vt:lpstr>Does Government Expenses affect the GDP growth/reduction?</vt:lpstr>
      <vt:lpstr>Conclusion</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Shimani, Jurgen</dc:creator>
  <cp:lastModifiedBy>Shimani, Jurgen</cp:lastModifiedBy>
  <cp:revision>10</cp:revision>
  <dcterms:created xsi:type="dcterms:W3CDTF">2026-03-09T00:52:01Z</dcterms:created>
  <dcterms:modified xsi:type="dcterms:W3CDTF">2026-03-09T02:20:20Z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a6de1d5b-8b4b-4e4e-a8a1-d2976158103f_Enabled">
    <vt:lpwstr>true</vt:lpwstr>
  </property>
  <property fmtid="{D5CDD505-2E9C-101B-9397-08002B2CF9AE}" pid="4" name="MSIP_Label_a6de1d5b-8b4b-4e4e-a8a1-d2976158103f_SetDate">
    <vt:lpwstr>2026-03-09T00:52:20Z</vt:lpwstr>
  </property>
  <property fmtid="{D5CDD505-2E9C-101B-9397-08002B2CF9AE}" pid="5" name="MSIP_Label_a6de1d5b-8b4b-4e4e-a8a1-d2976158103f_Method">
    <vt:lpwstr>Standard</vt:lpwstr>
  </property>
  <property fmtid="{D5CDD505-2E9C-101B-9397-08002B2CF9AE}" pid="6" name="MSIP_Label_a6de1d5b-8b4b-4e4e-a8a1-d2976158103f_Name">
    <vt:lpwstr>defa4170-0d19-0005-0004-bc88714345d2</vt:lpwstr>
  </property>
  <property fmtid="{D5CDD505-2E9C-101B-9397-08002B2CF9AE}" pid="7" name="MSIP_Label_a6de1d5b-8b4b-4e4e-a8a1-d2976158103f_SiteId">
    <vt:lpwstr>ecd4c5d9-c2fe-4522-afd1-f0d20755d9d7</vt:lpwstr>
  </property>
  <property fmtid="{D5CDD505-2E9C-101B-9397-08002B2CF9AE}" pid="8" name="MSIP_Label_a6de1d5b-8b4b-4e4e-a8a1-d2976158103f_ActionId">
    <vt:lpwstr>760f2d80-54d2-4365-bc69-7eb50243e0b6</vt:lpwstr>
  </property>
  <property fmtid="{D5CDD505-2E9C-101B-9397-08002B2CF9AE}" pid="9" name="MSIP_Label_a6de1d5b-8b4b-4e4e-a8a1-d2976158103f_ContentBits">
    <vt:lpwstr>0</vt:lpwstr>
  </property>
  <property fmtid="{D5CDD505-2E9C-101B-9397-08002B2CF9AE}" pid="10" name="MSIP_Label_a6de1d5b-8b4b-4e4e-a8a1-d2976158103f_Tag">
    <vt:lpwstr>10, 3, 0, 1</vt:lpwstr>
  </property>
</Properties>
</file>